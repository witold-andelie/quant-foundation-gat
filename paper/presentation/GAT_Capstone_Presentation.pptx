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90288"/>
            <a:ext cx="12191695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B9BD5"/>
                </a:solidFill>
                <a:latin typeface="Calibri"/>
              </a:rPr>
              <a:t>CAPSTONE PROJECT  ·  MASTER'S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Relational Alpha Factors with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Graph Attention Networks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5B9BD5"/>
                </a:solidFill>
                <a:latin typeface="Calibri"/>
              </a:rPr>
              <a:t>A dual-track study on US equities and European power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Wentao Ma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7D0E0"/>
                </a:solidFill>
                <a:latin typeface="Calibri"/>
              </a:rPr>
              <a:t>One shared GAT kernel over two structurally different graphs  —  </a:t>
            </a:r>
            <a:r>
              <a:rPr sz="1400" b="0" i="0">
                <a:solidFill>
                  <a:srgbClr val="5B9BD5"/>
                </a:solidFill>
                <a:latin typeface="Calibri"/>
              </a:rPr>
              <a:t>what does learned relational structure add?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6BD"/>
                </a:solidFill>
                <a:latin typeface="Calibri"/>
              </a:rPr>
              <a:t>github.com/witold-andelie/quant-foundation-gat   ·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The core premise: assets are not islands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58064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A334A"/>
                </a:solidFill>
                <a:latin typeface="Calibri"/>
              </a:rPr>
              <a:t>Classical quantitative signals score each asset </a:t>
            </a:r>
            <a:r>
              <a:rPr sz="1700" b="1" i="0">
                <a:solidFill>
                  <a:srgbClr val="ED7D31"/>
                </a:solidFill>
                <a:latin typeface="Calibri"/>
              </a:rPr>
              <a:t>in isolation</a:t>
            </a:r>
            <a:r>
              <a:rPr sz="1700" b="0" i="0">
                <a:solidFill>
                  <a:srgbClr val="2A334A"/>
                </a:solidFill>
                <a:latin typeface="Calibri"/>
              </a:rPr>
              <a:t> — read one stock's own prices and volumes, emit one number.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A334A"/>
                </a:solidFill>
                <a:latin typeface="Calibri"/>
              </a:rPr>
              <a:t>But the assets are coupled: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Clr>
                <a:srgbClr val="4472C4"/>
              </a:buClr>
              <a:buFont typeface="Arial"/>
              <a:buChar char="–"/>
            </a:pPr>
            <a:r>
              <a:rPr sz="1550" b="0" i="0">
                <a:solidFill>
                  <a:srgbClr val="595959"/>
                </a:solidFill>
                <a:latin typeface="Calibri"/>
              </a:rPr>
              <a:t>Equities co-move within sectors and supply chains (statistical coupling).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  <a:buClr>
                <a:srgbClr val="4472C4"/>
              </a:buClr>
              <a:buFont typeface="Arial"/>
              <a:buChar char="–"/>
            </a:pPr>
            <a:r>
              <a:rPr sz="1550" b="0" i="0">
                <a:solidFill>
                  <a:srgbClr val="595959"/>
                </a:solidFill>
                <a:latin typeface="Calibri"/>
              </a:rPr>
              <a:t>European power prices are literally wired together by cross-border transmission lines (physical coupling).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A334A"/>
                </a:solidFill>
                <a:latin typeface="Calibri"/>
              </a:rPr>
              <a:t>The premise: </a:t>
            </a:r>
            <a:r>
              <a:rPr sz="1700" b="1" i="0">
                <a:solidFill>
                  <a:srgbClr val="4472C4"/>
                </a:solidFill>
                <a:latin typeface="Calibri"/>
              </a:rPr>
              <a:t>this coupling structure is information</a:t>
            </a:r>
            <a:r>
              <a:rPr sz="1700" b="0" i="0">
                <a:solidFill>
                  <a:srgbClr val="2A334A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A334A"/>
                </a:solidFill>
                <a:latin typeface="Calibri"/>
              </a:rPr>
              <a:t>The project measures </a:t>
            </a:r>
            <a:r>
              <a:rPr sz="1700" b="1" i="0">
                <a:solidFill>
                  <a:srgbClr val="2A334A"/>
                </a:solidFill>
                <a:latin typeface="Calibri"/>
              </a:rPr>
              <a:t>how much</a:t>
            </a:r>
            <a:r>
              <a:rPr sz="1700" b="0" i="0">
                <a:solidFill>
                  <a:srgbClr val="2A334A"/>
                </a:solidFill>
                <a:latin typeface="Calibri"/>
              </a:rPr>
              <a:t> — as a graph, where nodes are assets and edges are the couplings a model may exchange information along.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737360"/>
            <a:ext cx="4892040" cy="4297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65960"/>
            <a:ext cx="4389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7F7F7F"/>
                </a:solidFill>
                <a:latin typeface="Calibri"/>
              </a:rPr>
              <a:t>TWO FACTOR FAMILIES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ED7D31"/>
                </a:solidFill>
                <a:latin typeface="Calibri"/>
              </a:rPr>
              <a:t>Island factor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scores a node from its </a:t>
            </a:r>
            <a:r>
              <a:rPr sz="1400" b="1" i="0">
                <a:solidFill>
                  <a:srgbClr val="595959"/>
                </a:solidFill>
                <a:latin typeface="Calibri"/>
              </a:rPr>
              <a:t>own history alone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(e.g. 5-day price reversal, volume shocks).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4472C4"/>
                </a:solidFill>
                <a:latin typeface="Calibri"/>
              </a:rPr>
              <a:t>Relational factor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may also read the node's </a:t>
            </a:r>
            <a:r>
              <a:rPr sz="1400" b="1" i="0">
                <a:solidFill>
                  <a:srgbClr val="595959"/>
                </a:solidFill>
                <a:latin typeface="Calibri"/>
              </a:rPr>
              <a:t>neighbours in a graph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.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A334A"/>
                </a:solidFill>
                <a:latin typeface="Calibri"/>
              </a:rPr>
              <a:t>The relational model's only privilege is </a:t>
            </a:r>
            <a:r>
              <a:rPr sz="1450" b="1" i="0">
                <a:solidFill>
                  <a:srgbClr val="2A334A"/>
                </a:solidFill>
                <a:latin typeface="Calibri"/>
              </a:rPr>
              <a:t>topological</a:t>
            </a:r>
            <a:r>
              <a:rPr sz="1450" b="0" i="0">
                <a:solidFill>
                  <a:srgbClr val="2A334A"/>
                </a:solidFill>
                <a:latin typeface="Calibri"/>
              </a:rPr>
              <a:t>: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F7F7F"/>
                </a:solidFill>
                <a:latin typeface="Calibri"/>
              </a:rPr>
              <a:t>permission to exchange information along edges, with every other input held fixed. Each headline number is that margin.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PRIMER  ·  FOR A NON-FINANCE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What is an “alpha factor”?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A334A"/>
                </a:solidFill>
                <a:latin typeface="Calibri"/>
              </a:rPr>
              <a:t>An </a:t>
            </a:r>
            <a:r>
              <a:rPr sz="1700" b="1" i="0">
                <a:solidFill>
                  <a:srgbClr val="4472C4"/>
                </a:solidFill>
                <a:latin typeface="Calibri"/>
              </a:rPr>
              <a:t>alpha factor</a:t>
            </a:r>
            <a:r>
              <a:rPr sz="1700" b="0" i="0">
                <a:solidFill>
                  <a:srgbClr val="2A334A"/>
                </a:solidFill>
                <a:latin typeface="Calibri"/>
              </a:rPr>
              <a:t> is a rule that assigns every asset a score at every point in time, built so that </a:t>
            </a:r>
            <a:r>
              <a:rPr sz="1700" b="1" i="0">
                <a:solidFill>
                  <a:srgbClr val="2A334A"/>
                </a:solidFill>
                <a:latin typeface="Calibri"/>
              </a:rPr>
              <a:t>higher-scored assets should subsequently outperform lower-scored ones.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A334A"/>
                </a:solidFill>
                <a:latin typeface="Calibri"/>
              </a:rPr>
              <a:t>The prediction is about </a:t>
            </a:r>
            <a:r>
              <a:rPr sz="1700" b="1" i="0">
                <a:solidFill>
                  <a:srgbClr val="2A334A"/>
                </a:solidFill>
                <a:latin typeface="Calibri"/>
              </a:rPr>
              <a:t>relative</a:t>
            </a:r>
            <a:r>
              <a:rPr sz="1700" b="0" i="0">
                <a:solidFill>
                  <a:srgbClr val="2A334A"/>
                </a:solidFill>
                <a:latin typeface="Calibri"/>
              </a:rPr>
              <a:t> performance, not price levels. The object of interest is the </a:t>
            </a:r>
            <a:r>
              <a:rPr sz="1700" b="1" i="0">
                <a:solidFill>
                  <a:srgbClr val="4472C4"/>
                </a:solidFill>
                <a:latin typeface="Calibri"/>
              </a:rPr>
              <a:t>cross-section</a:t>
            </a:r>
            <a:r>
              <a:rPr sz="1700" b="0" i="0">
                <a:solidFill>
                  <a:srgbClr val="2A334A"/>
                </a:solidFill>
                <a:latin typeface="Calibri"/>
              </a:rPr>
              <a:t> — all assets at one timestamp — and whether today's ranking of scores anticipates tomorrow's ranking of returns.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200400"/>
            <a:ext cx="3502152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200400"/>
            <a:ext cx="3502152" cy="566928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273552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   Score the cross-section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977639"/>
            <a:ext cx="304495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At each date, every asset gets a number from the factor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3200400"/>
            <a:ext cx="3502152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200400"/>
            <a:ext cx="3502152" cy="56692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73552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   Rank the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39"/>
            <a:ext cx="304495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Convert to a within-day ranking. Absolute magnitude is discarded.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3200400"/>
            <a:ext cx="3502152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3200400"/>
            <a:ext cx="3502152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3273552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   Check the ordering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977639"/>
            <a:ext cx="304495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Did high-ranked assets out-return low-ranked ones over the next k days?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Calibri"/>
              </a:rPr>
              <a:t>Individual factors are weak and correlated by design — the field builds them in large numbers and studies how to </a:t>
            </a:r>
            <a:r>
              <a:rPr sz="1400" b="1" i="0">
                <a:solidFill>
                  <a:srgbClr val="7F7F7F"/>
                </a:solidFill>
                <a:latin typeface="Calibri"/>
              </a:rPr>
              <a:t>combine</a:t>
            </a:r>
            <a:r>
              <a:rPr sz="1400" b="0" i="0">
                <a:solidFill>
                  <a:srgbClr val="7F7F7F"/>
                </a:solidFill>
                <a:latin typeface="Calibri"/>
              </a:rPr>
              <a:t> them. That combination step is where this project's graph lives.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PRIMER  ·  FOR A NON-FINANCE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How we grade a factor: two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5394960" cy="4434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5394960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9222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Rank-IC  (information coefficient)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800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The (Spearman) correlation between the scores issued today and the returns realised afterwards, averaged over all dates.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Font typeface="Arial"/>
              <a:buChar char="–"/>
            </a:pPr>
            <a:r>
              <a:rPr sz="1500" b="1" i="0">
                <a:solidFill>
                  <a:srgbClr val="4472C4"/>
                </a:solidFill>
                <a:latin typeface="Calibri"/>
              </a:rPr>
              <a:t>1.0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= perfect ordering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>
                <a:srgbClr val="4472C4"/>
              </a:buClr>
              <a:buFont typeface="Arial"/>
              <a:buChar char="–"/>
            </a:pPr>
            <a:r>
              <a:rPr sz="1500" b="1" i="0">
                <a:solidFill>
                  <a:srgbClr val="4472C4"/>
                </a:solidFill>
                <a:latin typeface="Calibri"/>
              </a:rPr>
              <a:t>0.0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= no predictive skill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334A"/>
                </a:solidFill>
                <a:latin typeface="Calibri"/>
              </a:rPr>
              <a:t>Reality check: 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real factors are weak.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This project's best equity composite reaches rank-IC ≈ </a:t>
            </a:r>
            <a:r>
              <a:rPr sz="1500" b="1" i="0">
                <a:solidFill>
                  <a:srgbClr val="4472C4"/>
                </a:solidFill>
                <a:latin typeface="Calibri"/>
              </a:rPr>
              <a:t>0.015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out-of-sample — small, but real and usable in combination.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394960" cy="4434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5394960" cy="640080"/>
          </a:xfrm>
          <a:prstGeom prst="rect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79222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Sharpe ratio  (of a long–short 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60320"/>
            <a:ext cx="4800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Grade the factor as a strategy: </a:t>
            </a:r>
            <a:r>
              <a:rPr sz="1500" b="1" i="0">
                <a:solidFill>
                  <a:srgbClr val="2E8B57"/>
                </a:solidFill>
                <a:latin typeface="Calibri"/>
              </a:rPr>
              <a:t>buy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the top-ranked assets, </a:t>
            </a:r>
            <a:r>
              <a:rPr sz="1500" b="1" i="0">
                <a:solidFill>
                  <a:srgbClr val="C0392B"/>
                </a:solidFill>
                <a:latin typeface="Calibri"/>
              </a:rPr>
              <a:t>short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the bottom-ranked ones, then divide mean return by its volatility (annualised).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>
                <a:srgbClr val="4472C4"/>
              </a:buClr>
              <a:buFont typeface="Arial"/>
              <a:buChar char="–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Long–short largely cancels overall market direction — what remains is the factor's own edge.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334A"/>
                </a:solidFill>
                <a:latin typeface="Calibri"/>
              </a:rPr>
              <a:t>Key subtlety: 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rank-IC and Sharpe can disagree.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Ranking well says nothing about the </a:t>
            </a:r>
            <a:r>
              <a:rPr sz="1500" b="1" i="0">
                <a:solidFill>
                  <a:srgbClr val="595959"/>
                </a:solidFill>
                <a:latin typeface="Calibri"/>
              </a:rPr>
              <a:t>magnitude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 of wins and losses — a disagreement the energy track turns into a main finding.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THE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Why a graph model? What we are actually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5468112" cy="32461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5468112" cy="60350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109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What the GNN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4965192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>
                <a:srgbClr val="4472C4"/>
              </a:buClr>
              <a:buFont typeface="Arial"/>
              <a:buChar char="–"/>
            </a:pPr>
            <a:r>
              <a:rPr sz="1400" b="0" i="0">
                <a:solidFill>
                  <a:srgbClr val="595959"/>
                </a:solidFill>
                <a:latin typeface="Calibri"/>
              </a:rPr>
              <a:t>A bigger model bolted on to push prediction accuracy up.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>
                <a:srgbClr val="4472C4"/>
              </a:buClr>
              <a:buFont typeface="Arial"/>
              <a:buChar char="–"/>
            </a:pPr>
            <a:r>
              <a:rPr sz="1400" b="0" i="0">
                <a:solidFill>
                  <a:srgbClr val="595959"/>
                </a:solidFill>
                <a:latin typeface="Calibri"/>
              </a:rPr>
              <a:t>A way to feed </a:t>
            </a:r>
            <a:r>
              <a:rPr sz="1400" b="1" i="0">
                <a:solidFill>
                  <a:srgbClr val="595959"/>
                </a:solidFill>
                <a:latin typeface="Calibri"/>
              </a:rPr>
              <a:t>extra data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into prediction — every exogenous driver (load, wind, solar, fuel) also goes to the graph-free baselines.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Font typeface="Arial"/>
              <a:buChar char="–"/>
            </a:pPr>
            <a:r>
              <a:rPr sz="1400" b="0" i="0">
                <a:solidFill>
                  <a:srgbClr val="595959"/>
                </a:solidFill>
                <a:latin typeface="Calibri"/>
              </a:rPr>
              <a:t>A demo that “a graph beats a non-graph” — easy to show, hard to interpret.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45920"/>
            <a:ext cx="5468112" cy="32461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645920"/>
            <a:ext cx="5468112" cy="603504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109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What the GNN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14016"/>
            <a:ext cx="4965192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>
                <a:srgbClr val="4472C4"/>
              </a:buClr>
              <a:buFont typeface="Arial"/>
              <a:buChar char="–"/>
            </a:pPr>
            <a:r>
              <a:rPr sz="1400" b="0" i="0">
                <a:solidFill>
                  <a:srgbClr val="2A334A"/>
                </a:solidFill>
                <a:latin typeface="Calibri"/>
              </a:rPr>
              <a:t>A </a:t>
            </a:r>
            <a:r>
              <a:rPr sz="1400" b="1" i="0">
                <a:solidFill>
                  <a:srgbClr val="4472C4"/>
                </a:solidFill>
                <a:latin typeface="Calibri"/>
              </a:rPr>
              <a:t>measurement instrument</a:t>
            </a:r>
            <a:r>
              <a:rPr sz="1400" b="0" i="0">
                <a:solidFill>
                  <a:srgbClr val="2A334A"/>
                </a:solidFill>
                <a:latin typeface="Calibri"/>
              </a:rPr>
              <a:t>: it isolates the marginal value of relational structure — the coupling between assets — with the information set held fixed.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>
                <a:srgbClr val="4472C4"/>
              </a:buClr>
              <a:buFont typeface="Arial"/>
              <a:buChar char="–"/>
            </a:pPr>
            <a:r>
              <a:rPr sz="1400" b="0" i="0">
                <a:solidFill>
                  <a:srgbClr val="2A334A"/>
                </a:solidFill>
                <a:latin typeface="Calibri"/>
              </a:rPr>
              <a:t>The model's only privilege is </a:t>
            </a:r>
            <a:r>
              <a:rPr sz="1400" b="1" i="0">
                <a:solidFill>
                  <a:srgbClr val="2A334A"/>
                </a:solidFill>
                <a:latin typeface="Calibri"/>
              </a:rPr>
              <a:t>topological</a:t>
            </a:r>
            <a:r>
              <a:rPr sz="1400" b="0" i="0">
                <a:solidFill>
                  <a:srgbClr val="2A334A"/>
                </a:solidFill>
                <a:latin typeface="Calibri"/>
              </a:rPr>
              <a:t>: permission to exchange information along edges (correlations for equities, the physical grid for power).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Font typeface="Arial"/>
              <a:buChar char="–"/>
            </a:pPr>
            <a:r>
              <a:rPr sz="1400" b="0" i="0">
                <a:solidFill>
                  <a:srgbClr val="2A334A"/>
                </a:solidFill>
                <a:latin typeface="Calibri"/>
              </a:rPr>
              <a:t>So every headline number is a </a:t>
            </a:r>
            <a:r>
              <a:rPr sz="1400" b="1" i="0">
                <a:solidFill>
                  <a:srgbClr val="4472C4"/>
                </a:solidFill>
                <a:latin typeface="Calibri"/>
              </a:rPr>
              <a:t>margin</a:t>
            </a:r>
            <a:r>
              <a:rPr sz="1400" b="0" i="0">
                <a:solidFill>
                  <a:srgbClr val="2A334A"/>
                </a:solidFill>
                <a:latin typeface="Calibri"/>
              </a:rPr>
              <a:t> — the value of that permission, everything else equal.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138928"/>
            <a:ext cx="11045952" cy="932688"/>
          </a:xfrm>
          <a:prstGeom prst="rect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138928"/>
            <a:ext cx="100584" cy="93268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1051560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9BD5"/>
                </a:solidFill>
                <a:latin typeface="Calibri"/>
              </a:rPr>
              <a:t>The aim, in one line: 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measure what the coupling structure of markets is worth — and whether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learning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to read it beats reading it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naively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Three questions the aim breaks into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95959"/>
                </a:solidFill>
                <a:latin typeface="Calibri"/>
              </a:rPr>
              <a:t>With the information set held fixed, the aim decomposes into three concrete, separately-measurable questions: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51760"/>
            <a:ext cx="11045952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51760"/>
            <a:ext cx="1051560" cy="8686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651760"/>
            <a:ext cx="1051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51760"/>
            <a:ext cx="9646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A334A"/>
                </a:solidFill>
                <a:latin typeface="Calibri"/>
              </a:rPr>
              <a:t>Does learned attention add value over unlearned relational propagation, holding inputs and topology fixed?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57600"/>
            <a:ext cx="11045952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657600"/>
            <a:ext cx="1051560" cy="86868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657600"/>
            <a:ext cx="1051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57600"/>
            <a:ext cx="9646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A334A"/>
                </a:solidFill>
                <a:latin typeface="Calibri"/>
              </a:rPr>
              <a:t>Does one GAT kernel transfer across structurally different graphs without manufacturing false positives?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663440"/>
            <a:ext cx="11045952" cy="868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663440"/>
            <a:ext cx="1051560" cy="868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663440"/>
            <a:ext cx="1051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663440"/>
            <a:ext cx="9646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A334A"/>
                </a:solidFill>
                <a:latin typeface="Calibri"/>
              </a:rPr>
              <a:t>On real power data, does the physical topology improve forecast skill, and where does its value concentrate?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METHOD  ·  THE CENTRAL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The attention A/B: two no-learning anchors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isolation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903720" cy="35110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737360"/>
            <a:ext cx="4114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A334A"/>
                </a:solidFill>
                <a:latin typeface="Calibri"/>
              </a:rPr>
              <a:t>Every run carries </a:t>
            </a:r>
            <a:r>
              <a:rPr sz="1550" b="1" i="0">
                <a:solidFill>
                  <a:srgbClr val="2A334A"/>
                </a:solidFill>
                <a:latin typeface="Calibri"/>
              </a:rPr>
              <a:t>three constructions</a:t>
            </a:r>
            <a:r>
              <a:rPr sz="1550" b="0" i="0">
                <a:solidFill>
                  <a:srgbClr val="2A334A"/>
                </a:solidFill>
                <a:latin typeface="Calibri"/>
              </a:rPr>
              <a:t> on one input matrix, scored by one harness: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4472C4"/>
              </a:buClr>
              <a:buFont typeface="Arial"/>
              <a:buChar char="–"/>
            </a:pPr>
            <a:r>
              <a:rPr sz="1450" b="1" i="0">
                <a:solidFill>
                  <a:srgbClr val="ED7D31"/>
                </a:solidFill>
                <a:latin typeface="Calibri"/>
              </a:rPr>
              <a:t>Island anchor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— equal-weight mean, no graph.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4472C4"/>
              </a:buClr>
              <a:buFont typeface="Arial"/>
              <a:buChar char="–"/>
            </a:pPr>
            <a:r>
              <a:rPr sz="1450" b="1" i="0">
                <a:solidFill>
                  <a:srgbClr val="5B9BD5"/>
                </a:solidFill>
                <a:latin typeface="Calibri"/>
              </a:rPr>
              <a:t>Uniform anchor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— same mean, averaged over the graph, nothing learned.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Clr>
                <a:srgbClr val="4472C4"/>
              </a:buClr>
              <a:buFont typeface="Arial"/>
              <a:buChar char="–"/>
            </a:pPr>
            <a:r>
              <a:rPr sz="1450" b="1" i="0">
                <a:solidFill>
                  <a:srgbClr val="4472C4"/>
                </a:solidFill>
                <a:latin typeface="Calibri"/>
              </a:rPr>
              <a:t>GAT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— learned attention on the same graph.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island → uniform  =  </a:t>
            </a:r>
            <a:r>
              <a:rPr sz="1450" b="1" i="0">
                <a:solidFill>
                  <a:srgbClr val="4472C4"/>
                </a:solidFill>
                <a:latin typeface="Calibri"/>
              </a:rPr>
              <a:t>what the graph adds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uniform → GAT  =  </a:t>
            </a:r>
            <a:r>
              <a:rPr sz="1450" b="1" i="0">
                <a:solidFill>
                  <a:srgbClr val="4472C4"/>
                </a:solidFill>
                <a:latin typeface="Calibri"/>
              </a:rPr>
              <a:t>what learned attention adds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A334A"/>
                </a:solidFill>
                <a:latin typeface="Calibri"/>
              </a:rPr>
              <a:t>This isolates a </a:t>
            </a:r>
            <a:r>
              <a:rPr sz="1450" b="1" i="0">
                <a:solidFill>
                  <a:srgbClr val="2A334A"/>
                </a:solidFill>
                <a:latin typeface="Calibri"/>
              </a:rPr>
              <a:t>mechanism</a:t>
            </a:r>
            <a:r>
              <a:rPr sz="1450" b="0" i="0">
                <a:solidFill>
                  <a:srgbClr val="2A334A"/>
                </a:solidFill>
                <a:latin typeface="Calibri"/>
              </a:rPr>
              <a:t>, not a whole architecture — the price is smaller headline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How the GNN plugs in — two seams, not a fork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The relational track joins an existing analytics platform (ingest → DuckDB warehouse → dbt marts → Streamlit) through </a:t>
            </a:r>
            <a:r>
              <a:rPr sz="1550" b="1" i="0">
                <a:solidFill>
                  <a:srgbClr val="4472C4"/>
                </a:solidFill>
                <a:latin typeface="Calibri"/>
              </a:rPr>
              <a:t>two narrow interfaces</a:t>
            </a:r>
            <a:r>
              <a:rPr sz="1550" b="0" i="0">
                <a:solidFill>
                  <a:srgbClr val="595959"/>
                </a:solidFill>
                <a:latin typeface="Calibri"/>
              </a:rPr>
              <a:t>, fixed in design records before implementation.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14600"/>
            <a:ext cx="5440680" cy="3520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514600"/>
            <a:ext cx="5440680" cy="658368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96896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SEAM 1 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The propagator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19456" marL="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472C4"/>
              </a:buClr>
              <a:buFont typeface="Arial"/>
              <a:buChar char="–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One snapshot's node features + topology in, one factor value per node out.</a:t>
            </a:r>
          </a:p>
          <a:p>
            <a:pPr algn="l" indent="-219456" marL="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472C4"/>
              </a:buClr>
              <a:buFont typeface="Arial"/>
              <a:buChar char="–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Both the uniform baseline and the trained GAT are adapters on this one seam — so the A/B is a one-line swap, not two code paths.</a:t>
            </a:r>
          </a:p>
          <a:p>
            <a:pPr algn="l" indent="-219456" marL="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472C4"/>
              </a:buClr>
              <a:buFont typeface="Arial"/>
              <a:buChar char="–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A characterisation test pins it: uniform propagation on a full graph reproduces the platform's existing cross-market mean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2514600"/>
            <a:ext cx="5440680" cy="3520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514600"/>
            <a:ext cx="5440680" cy="65836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96896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SEAM 2 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The factor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64992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19456" marL="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472C4"/>
              </a:buClr>
              <a:buFont typeface="Arial"/>
              <a:buChar char="–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One Factor contract over the (time, entity) panel absorbs both idioms.</a:t>
            </a:r>
          </a:p>
          <a:p>
            <a:pPr algn="l" indent="-219456" marL="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472C4"/>
              </a:buClr>
              <a:buFont typeface="Arial"/>
              <a:buChar char="–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At the registry / apply / gate layer, island and relational factors are indistinguishable.</a:t>
            </a:r>
          </a:p>
          <a:p>
            <a:pPr algn="l" indent="-219456" marL="219456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472C4"/>
              </a:buClr>
              <a:buFont typeface="Arial"/>
              <a:buChar char="–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That is what makes the four-gate comparison a fair one — every factor reaches evaluation through the same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447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F7F7F"/>
                </a:solidFill>
                <a:latin typeface="Calibri"/>
              </a:rPr>
              <a:t>Research runs flow back into the warehouse as marts; 115 tests (55 in the capstone modules) pin the leakage-critical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Leakage was treated as the #1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Controls are </a:t>
            </a:r>
            <a:r>
              <a:rPr sz="1550" b="1" i="0">
                <a:solidFill>
                  <a:srgbClr val="2A334A"/>
                </a:solidFill>
                <a:latin typeface="Calibri"/>
              </a:rPr>
              <a:t>structural</a:t>
            </a:r>
            <a:r>
              <a:rPr sz="1550" b="0" i="0">
                <a:solidFill>
                  <a:srgbClr val="595959"/>
                </a:solidFill>
                <a:latin typeface="Calibri"/>
              </a:rPr>
              <a:t> — asserted in code, not remembered by the experimenter. One split date is computed once and passed to every consumer.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3679882" cy="7772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67988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4554" y="2514600"/>
            <a:ext cx="899396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4554" y="2514600"/>
            <a:ext cx="8993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embargo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1383" y="2514600"/>
            <a:ext cx="1929206" cy="777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1383" y="2514600"/>
            <a:ext cx="192920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valid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8022" y="2514600"/>
            <a:ext cx="899396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8022" y="2514600"/>
            <a:ext cx="8993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embargo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4850" y="2514600"/>
            <a:ext cx="3061997" cy="777240"/>
          </a:xfrm>
          <a:prstGeom prst="rect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4850" y="2514600"/>
            <a:ext cx="3061997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out-of-sample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F7F7F"/>
                </a:solidFill>
                <a:latin typeface="Calibri"/>
              </a:rPr>
              <a:t>Validation is embargoed on </a:t>
            </a:r>
            <a:r>
              <a:rPr sz="1250" b="1" i="0">
                <a:solidFill>
                  <a:srgbClr val="7F7F7F"/>
                </a:solidFill>
                <a:latin typeface="Calibri"/>
              </a:rPr>
              <a:t>both</a:t>
            </a:r>
            <a:r>
              <a:rPr sz="1250" b="0" i="0">
                <a:solidFill>
                  <a:srgbClr val="7F7F7F"/>
                </a:solidFill>
                <a:latin typeface="Calibri"/>
              </a:rPr>
              <a:t> sides — labels reach k steps forward, so the trailing embargo (easy to forget) stops best-epoch selection leaking OOS returns.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977639"/>
            <a:ext cx="3502152" cy="19659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977639"/>
            <a:ext cx="82296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133087"/>
            <a:ext cx="309067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Negative control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Calibri"/>
              </a:rPr>
              <a:t>Shuffle each snapshot's labels → validation IC must collapse to zero. It does.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977639"/>
            <a:ext cx="3502152" cy="19659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977639"/>
            <a:ext cx="82296" cy="19659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133087"/>
            <a:ext cx="309067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Positive control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Calibri"/>
              </a:rPr>
              <a:t>Plant a recoverable signal → the same loop must recover it. It does (IC → 0.99).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36992" y="3977639"/>
            <a:ext cx="3502152" cy="19659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3977639"/>
            <a:ext cx="82296" cy="19659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4133087"/>
            <a:ext cx="309067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72C4"/>
                </a:solidFill>
                <a:latin typeface="Calibri"/>
              </a:rPr>
              <a:t>IC-loss objective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Calibri"/>
              </a:rPr>
              <a:t>Optimise −Pearson(pred, label) per snapshot; deploy the best-validation-epoch weights.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The four research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A relational composite is only interesting if it survives comparison against the island factors it was built from — all scored out-of-sample.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86000"/>
            <a:ext cx="11045952" cy="502920"/>
          </a:xfrm>
          <a:prstGeom prst="rect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2860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28600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2860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THRESHOLD  (equity)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0736" y="2286000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788920"/>
            <a:ext cx="11045952" cy="749808"/>
          </a:xfrm>
          <a:prstGeom prst="rect">
            <a:avLst/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78892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334A"/>
                </a:solidFill>
                <a:latin typeface="Calibri"/>
              </a:rPr>
              <a:t>Value-added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788920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composite OOS Sharpe vs. best single alpha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788920"/>
            <a:ext cx="26517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composite &gt; 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0736" y="2788920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FAIL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38727"/>
            <a:ext cx="11045952" cy="74980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538727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334A"/>
                </a:solidFill>
                <a:latin typeface="Calibri"/>
              </a:rPr>
              <a:t>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538727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IS / OOS IC same sign, magnitude retained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3538727"/>
            <a:ext cx="26517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score ≥ 0.5  (0.63)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0736" y="3538727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88536"/>
            <a:ext cx="11045952" cy="74980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288536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334A"/>
                </a:solidFill>
                <a:latin typeface="Calibri"/>
              </a:rPr>
              <a:t>Uniqueness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4288536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max |correlation| vs. each single alpha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288536"/>
            <a:ext cx="26517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&lt; 0.7  (0.26)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0736" y="4288536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038344"/>
            <a:ext cx="11045952" cy="74980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5038344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334A"/>
                </a:solidFill>
                <a:latin typeface="Calibri"/>
              </a:rPr>
              <a:t>Robustness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4096" y="5038344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blend: OOS coverage, IC info-ratio, drawdown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5038344"/>
            <a:ext cx="26517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score ≥ 0.5  (0.68)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0736" y="5038344"/>
            <a:ext cx="10789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8978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The composite is real, unique and consistent — it beats </a:t>
            </a:r>
            <a:r>
              <a:rPr sz="1450" b="1" i="0">
                <a:solidFill>
                  <a:srgbClr val="2E8B57"/>
                </a:solidFill>
                <a:latin typeface="Calibri"/>
              </a:rPr>
              <a:t>9 of its 10 inputs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— but never clears the strictest bar (beat the single best alpha). We report the open gate rather than soften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RESULT  ·  EQUITY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Learned attention reliably beats naive propagation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3520440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73936"/>
            <a:ext cx="3209544" cy="11978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E8B57"/>
                </a:solidFill>
                <a:latin typeface="Calibri"/>
              </a:rPr>
              <a:t>30 / 30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seeded runs with positive attention value-add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Calibri"/>
              </a:rPr>
              <a:t>2 HP configs · 2 devices · +0.69 to +3.03 Sharpe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00400"/>
            <a:ext cx="3520440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200400"/>
            <a:ext cx="82296" cy="14173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328416"/>
            <a:ext cx="3209544" cy="11978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4472C4"/>
                </a:solidFill>
                <a:latin typeface="Calibri"/>
              </a:rPr>
              <a:t>+0.0148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best-config OOS IC  (± 0.0043)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Calibri"/>
              </a:rPr>
              <a:t>all 5 seeds positive · mean 3.4σ above zero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54880"/>
            <a:ext cx="352044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54880"/>
            <a:ext cx="82296" cy="13716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882896"/>
            <a:ext cx="32095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4472C4"/>
                </a:solidFill>
                <a:latin typeface="Calibri"/>
              </a:rPr>
              <a:t>3 / 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research gates pass on real 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Calibri"/>
              </a:rPr>
              <a:t>Value-added is the one honest failure</a:t>
            </a:r>
          </a:p>
        </p:txBody>
      </p:sp>
      <p:pic>
        <p:nvPicPr>
          <p:cNvPr id="16" name="Picture 15" descr="eq_value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28800"/>
            <a:ext cx="4160520" cy="24838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0" y="1783080"/>
            <a:ext cx="2971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A334A"/>
                </a:solidFill>
                <a:latin typeface="Calibri"/>
              </a:rPr>
              <a:t>What the number means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95959"/>
                </a:solidFill>
                <a:latin typeface="Calibri"/>
              </a:rPr>
              <a:t>The value-add is the GAT's OOS Sharpe </a:t>
            </a:r>
            <a:r>
              <a:rPr sz="1350" b="1" i="0">
                <a:solidFill>
                  <a:srgbClr val="595959"/>
                </a:solidFill>
                <a:latin typeface="Calibri"/>
              </a:rPr>
              <a:t>minus the uniform anchor's</a:t>
            </a:r>
            <a:r>
              <a:rPr sz="1350" b="0" i="0">
                <a:solidFill>
                  <a:srgbClr val="595959"/>
                </a:solidFill>
                <a:latin typeface="Calibri"/>
              </a:rPr>
              <a:t> — same inputs, same topology, differing only in whether the edge weights are learned.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95959"/>
                </a:solidFill>
                <a:latin typeface="Calibri"/>
              </a:rPr>
              <a:t>Both no-learning anchors are </a:t>
            </a:r>
            <a:r>
              <a:rPr sz="1350" b="1" i="0">
                <a:solidFill>
                  <a:srgbClr val="C0392B"/>
                </a:solidFill>
                <a:latin typeface="Calibri"/>
              </a:rPr>
              <a:t>negative</a:t>
            </a:r>
            <a:r>
              <a:rPr sz="1350" b="0" i="0">
                <a:solidFill>
                  <a:srgbClr val="595959"/>
                </a:solidFill>
                <a:latin typeface="Calibri"/>
              </a:rPr>
              <a:t> out-of-sample; the learned model is consistently positive.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595959"/>
                </a:solidFill>
                <a:latin typeface="Calibri"/>
              </a:rPr>
              <a:t>It is </a:t>
            </a:r>
            <a:r>
              <a:rPr sz="1350" b="1" i="0">
                <a:solidFill>
                  <a:srgbClr val="4472C4"/>
                </a:solidFill>
                <a:latin typeface="Calibri"/>
              </a:rPr>
              <a:t>not learning to smooth</a:t>
            </a:r>
            <a:r>
              <a:rPr sz="1350" b="0" i="0">
                <a:solidFill>
                  <a:srgbClr val="595959"/>
                </a:solidFill>
                <a:latin typeface="Calibri"/>
              </a:rPr>
              <a:t>: its scores are near-uncorrelated with the uniform anchor (Spearman −0.29..−0.14) — it learns </a:t>
            </a:r>
            <a:r>
              <a:rPr sz="1350" b="1" i="0">
                <a:solidFill>
                  <a:srgbClr val="595959"/>
                </a:solidFill>
                <a:latin typeface="Calibri"/>
              </a:rPr>
              <a:t>where</a:t>
            </a:r>
            <a:r>
              <a:rPr sz="1350" b="0" i="0">
                <a:solidFill>
                  <a:srgbClr val="595959"/>
                </a:solidFill>
                <a:latin typeface="Calibri"/>
              </a:rPr>
              <a:t> the graph matters.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F7F7F"/>
                </a:solidFill>
                <a:latin typeface="Calibri"/>
              </a:rPr>
              <a:t>Data: real yfinance, 49 names, 2021–2026, 10 island alphas, correlation-top-k + sector graph.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72C4"/>
                </a:solidFill>
                <a:latin typeface="Calibri"/>
              </a:rPr>
              <a:t>RESULT  ·  EQUITY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What did the attention actually learn?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att_neighbour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657600"/>
            <a:ext cx="651510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600200"/>
            <a:ext cx="72237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A334A"/>
                </a:solidFill>
                <a:latin typeface="Calibri"/>
              </a:rPr>
              <a:t>Attention analysis on 919,336 edge-weight rows over 1,364 dates: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>
                <a:srgbClr val="4472C4"/>
              </a:buClr>
              <a:buFont typeface="Arial"/>
              <a:buChar char="–"/>
            </a:pPr>
            <a:r>
              <a:rPr sz="1400" b="1" i="0">
                <a:solidFill>
                  <a:srgbClr val="2E8B57"/>
                </a:solidFill>
                <a:latin typeface="Calibri"/>
              </a:rPr>
              <a:t>Genuinely relational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— self-loop weight only 0.084, so </a:t>
            </a:r>
            <a:r>
              <a:rPr sz="1400" b="1" i="0">
                <a:solidFill>
                  <a:srgbClr val="595959"/>
                </a:solidFill>
                <a:latin typeface="Calibri"/>
              </a:rPr>
              <a:t>91.6% of attention mass sits on neighbours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(the graph is not decoration).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Font typeface="Arial"/>
              <a:buChar char="–"/>
            </a:pPr>
            <a:r>
              <a:rPr sz="1400" b="1" i="0">
                <a:solidFill>
                  <a:srgbClr val="ED7D31"/>
                </a:solidFill>
                <a:latin typeface="Calibri"/>
              </a:rPr>
              <a:t>But nearly uniform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— across ~12.5 neighbours, entropy 0.956, sector-homophily lift just +0.019. A </a:t>
            </a:r>
            <a:r>
              <a:rPr sz="1400" b="1" i="0">
                <a:solidFill>
                  <a:srgbClr val="595959"/>
                </a:solidFill>
                <a:latin typeface="Calibri"/>
              </a:rPr>
              <a:t>gentle re-weighting of mean pooling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, not a sharp selector.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6576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A334A"/>
                </a:solidFill>
                <a:latin typeface="Calibri"/>
              </a:rPr>
              <a:t>The mechanism, in one line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Small learned tilts on top of broad pooling — which is exactly why the GAT's edge is </a:t>
            </a:r>
            <a:r>
              <a:rPr sz="1400" b="1" i="0">
                <a:solidFill>
                  <a:srgbClr val="4472C4"/>
                </a:solidFill>
                <a:latin typeface="Calibri"/>
              </a:rPr>
              <a:t>consistent yet modest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Temporally stationary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: the neighbour share holds at 0.91–0.92 across 2021–2026, with no break at the IS/OOS line (chart).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The design hypothesis — attention adapts to macro regimes — is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not supported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at this level, and we say so.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F7F7F"/>
                </a:solidFill>
                <a:latin typeface="Calibri"/>
              </a:rPr>
              <a:t>Validity check: the biggest attention sinks are mega-cap bellwethers (AMZN, NVDA, MSFT, GS…) — the names the universe co-moves with.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TRACK 2  · 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The energy graph is physical, not estimated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interconn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42" y="1600200"/>
            <a:ext cx="5662235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828800"/>
            <a:ext cx="4343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A334A"/>
                </a:solidFill>
                <a:latin typeface="Calibri"/>
              </a:rPr>
              <a:t>The plan: repeat the equity experiment on a </a:t>
            </a:r>
            <a:r>
              <a:rPr sz="1550" b="1" i="0">
                <a:solidFill>
                  <a:srgbClr val="ED7D31"/>
                </a:solidFill>
                <a:latin typeface="Calibri"/>
              </a:rPr>
              <a:t>physically grounded</a:t>
            </a:r>
            <a:r>
              <a:rPr sz="1550" b="0" i="0">
                <a:solidFill>
                  <a:srgbClr val="2A334A"/>
                </a:solidFill>
                <a:latin typeface="Calibri"/>
              </a:rPr>
              <a:t> graph.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4472C4"/>
              </a:buClr>
              <a:buFont typeface="Arial"/>
              <a:buChar char="–"/>
            </a:pPr>
            <a:r>
              <a:rPr sz="1450" b="1" i="0">
                <a:solidFill>
                  <a:srgbClr val="2A334A"/>
                </a:solidFill>
                <a:latin typeface="Calibri"/>
              </a:rPr>
              <a:t>20 European bidding zones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(day-ahead spot prices from ENTSO-E).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4472C4"/>
              </a:buClr>
              <a:buFont typeface="Arial"/>
              <a:buChar char="–"/>
            </a:pPr>
            <a:r>
              <a:rPr sz="1450" b="1" i="0">
                <a:solidFill>
                  <a:srgbClr val="2A334A"/>
                </a:solidFill>
                <a:latin typeface="Calibri"/>
              </a:rPr>
              <a:t>38 physical borders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— land interconnectors and HVDC cables.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4472C4"/>
              </a:buClr>
              <a:buFont typeface="Arial"/>
              <a:buChar char="–"/>
            </a:pPr>
            <a:r>
              <a:rPr sz="1450" b="1" i="0">
                <a:solidFill>
                  <a:srgbClr val="4472C4"/>
                </a:solidFill>
                <a:latin typeface="Calibri"/>
              </a:rPr>
              <a:t>Nothing is estimated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— the topology is the grid itself.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Clr>
                <a:srgbClr val="4472C4"/>
              </a:buClr>
              <a:buFont typeface="Arial"/>
              <a:buChar char="–"/>
            </a:pPr>
            <a:r>
              <a:rPr sz="1450" b="1" i="0">
                <a:solidFill>
                  <a:srgbClr val="2A334A"/>
                </a:solidFill>
                <a:latin typeface="Calibri"/>
              </a:rPr>
              <a:t>DE_LU is the natural hub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(11 interconnectors) — the physical layout, not a choice.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F7F7F"/>
                </a:solidFill>
                <a:latin typeface="Calibri"/>
              </a:rPr>
              <a:t>Same GAT kernel, training loop, gates and A/B as the equity track — only the graph, label horizon (24h) and node set differ.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TRACK 2  · 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A worked cautionary tale: three nested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en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5669280" cy="33348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The first real-data run looked spectacular: OOS IC 0.20, </a:t>
            </a:r>
            <a:r>
              <a:rPr sz="1450" b="1" i="0">
                <a:solidFill>
                  <a:srgbClr val="C0392B"/>
                </a:solidFill>
                <a:latin typeface="Calibri"/>
              </a:rPr>
              <a:t>Sharpe 8.25, 4/4 gates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. The same kernel earns ~1.4 on equities — </a:t>
            </a:r>
            <a:r>
              <a:rPr sz="1450" b="1" i="0">
                <a:solidFill>
                  <a:srgbClr val="2A334A"/>
                </a:solidFill>
                <a:latin typeface="Calibri"/>
              </a:rPr>
              <a:t>a symptom, not a discovery.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>
                <a:srgbClr val="4472C4"/>
              </a:buClr>
              <a:buFont typeface="Arial"/>
              <a:buChar char="–"/>
            </a:pPr>
            <a:r>
              <a:rPr sz="1400" b="1" i="0">
                <a:solidFill>
                  <a:srgbClr val="ED7D31"/>
                </a:solidFill>
                <a:latin typeface="Calibri"/>
              </a:rPr>
              <a:t>Overlapping labels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— 24h returns sampled hourly share 23/24 hours (autocorr 0.91); Sharpe treats them as independent.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>
                <a:srgbClr val="4472C4"/>
              </a:buClr>
              <a:buFont typeface="Arial"/>
              <a:buChar char="–"/>
            </a:pPr>
            <a:r>
              <a:rPr sz="1400" b="1" i="0">
                <a:solidFill>
                  <a:srgbClr val="ED7D31"/>
                </a:solidFill>
                <a:latin typeface="Calibri"/>
              </a:rPr>
              <a:t>Wrong annualisation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— the equity constant (252) applied to hourly data (8,760).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4472C4"/>
              </a:buClr>
              <a:buFont typeface="Arial"/>
              <a:buChar char="–"/>
            </a:pPr>
            <a:r>
              <a:rPr sz="1400" b="1" i="0">
                <a:solidFill>
                  <a:srgbClr val="ED7D31"/>
                </a:solidFill>
                <a:latin typeface="Calibri"/>
              </a:rPr>
              <a:t>A clip on the evaluation return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— a ±0.8 clip capped exactly the short-leg scarcity spikes where the money is lost.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2A334A"/>
                </a:solidFill>
                <a:latin typeface="Calibri"/>
              </a:rPr>
              <a:t>Under honest returns the strategy </a:t>
            </a:r>
            <a:r>
              <a:rPr sz="1450" b="1" i="0">
                <a:solidFill>
                  <a:srgbClr val="C0392B"/>
                </a:solidFill>
                <a:latin typeface="Calibri"/>
              </a:rPr>
              <a:t>loses money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(Sharpe ≈ −1.5) — yet rank-IC stays ≈ 0.21.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334A"/>
                </a:solidFill>
                <a:latin typeface="Calibri"/>
              </a:rPr>
              <a:t>Lesson: never transform the evaluation return, and never read rank quality as profitability.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TRACK 2  ·  ENERGY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Does the physical graph improve forecasts?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energ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28" y="1645920"/>
            <a:ext cx="389066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0" y="1691640"/>
            <a:ext cx="6126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Reframed from “is there alpha?” to “does the interconnector graph improve forecast skill?” — a skill ladder where each rung adds </a:t>
            </a:r>
            <a:r>
              <a:rPr sz="1500" b="1" i="0">
                <a:solidFill>
                  <a:srgbClr val="2A334A"/>
                </a:solidFill>
                <a:latin typeface="Calibri"/>
              </a:rPr>
              <a:t>exactly one ingredient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2A334A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3063240"/>
            <a:ext cx="598932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3063240"/>
            <a:ext cx="82296" cy="1234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3191256"/>
            <a:ext cx="5678424" cy="1014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8B57"/>
                </a:solidFill>
                <a:latin typeface="Calibri"/>
              </a:rPr>
              <a:t>+0.131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skill from the graph alone (uniform neighbour mean vs. no-graph ridge)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F7F7F"/>
                </a:solidFill>
                <a:latin typeface="Calibri"/>
              </a:rPr>
              <a:t>pure numpy, no learned model — the hardest number to argue with; synthetic uncoupled zones show no such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52628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4472C4"/>
              </a:buClr>
              <a:buFont typeface="Arial"/>
              <a:buChar char="–"/>
            </a:pPr>
            <a:r>
              <a:rPr sz="1400" b="1" i="0">
                <a:solidFill>
                  <a:srgbClr val="4472C4"/>
                </a:solidFill>
                <a:latin typeface="Calibri"/>
              </a:rPr>
              <a:t>Attention vs. uniform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— wins on </a:t>
            </a:r>
            <a:r>
              <a:rPr sz="1400" b="1" i="0">
                <a:solidFill>
                  <a:srgbClr val="595959"/>
                </a:solidFill>
                <a:latin typeface="Calibri"/>
              </a:rPr>
              <a:t>ranking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(5/5 seeds) but is a wash on MSE skill: uniform pooling is already near-optimal here.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Font typeface="Arial"/>
              <a:buChar char="–"/>
            </a:pPr>
            <a:r>
              <a:rPr sz="1400" b="1" i="0">
                <a:solidFill>
                  <a:srgbClr val="ED7D31"/>
                </a:solidFill>
                <a:latin typeface="Calibri"/>
              </a:rPr>
              <a:t>Congestion as an edge feature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— an honest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null</a:t>
            </a:r>
            <a:r>
              <a:rPr sz="1400" b="0" i="0">
                <a:solidFill>
                  <a:srgbClr val="595959"/>
                </a:solidFill>
                <a:latin typeface="Calibri"/>
              </a:rPr>
              <a:t> under two operationalisations and two GAT backends.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TRACK 2  ·  ENERGY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A334A"/>
                </a:solidFill>
                <a:latin typeface="Calibri"/>
              </a:rPr>
              <a:t>The relational payoff: cross-border spreads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89888"/>
            <a:ext cx="1371600" cy="502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Relational Alpha Factors with Graph Attention Networks  ·  Master's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FBFBF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en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035040" cy="32837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A334A"/>
                </a:solidFill>
                <a:latin typeface="Calibri"/>
              </a:rPr>
              <a:t>A cross-border spread (price$_a$ − price$_b$) is </a:t>
            </a:r>
            <a:r>
              <a:rPr sz="1550" b="1" i="0">
                <a:solidFill>
                  <a:srgbClr val="4472C4"/>
                </a:solidFill>
                <a:latin typeface="Calibri"/>
              </a:rPr>
              <a:t>irreducibly relational</a:t>
            </a:r>
            <a:r>
              <a:rPr sz="1550" b="0" i="0">
                <a:solidFill>
                  <a:srgbClr val="2A334A"/>
                </a:solidFill>
                <a:latin typeface="Calibri"/>
              </a:rPr>
              <a:t> — it does not exist for a single node, and it is what transmission rights actually price.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4472C4"/>
              </a:buClr>
              <a:buFont typeface="Arial"/>
              <a:buChar char="–"/>
            </a:pPr>
            <a:r>
              <a:rPr sz="1450" b="0" i="0">
                <a:solidFill>
                  <a:srgbClr val="595959"/>
                </a:solidFill>
                <a:latin typeface="Calibri"/>
              </a:rPr>
              <a:t>The GAT message-passes over the grid; a small head predicts each border's next-day spread.</a:t>
            </a:r>
          </a:p>
          <a:p>
            <a:pPr algn="l" indent="-219456" marL="219456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>
                <a:srgbClr val="4472C4"/>
              </a:buClr>
              <a:buFont typeface="Arial"/>
              <a:buChar char="–"/>
            </a:pPr>
            <a:r>
              <a:rPr sz="1450" b="0" i="0">
                <a:solidFill>
                  <a:srgbClr val="595959"/>
                </a:solidFill>
                <a:latin typeface="Calibri"/>
              </a:rPr>
              <a:t>The baseline already sees </a:t>
            </a:r>
            <a:r>
              <a:rPr sz="1450" b="1" i="0">
                <a:solidFill>
                  <a:srgbClr val="595959"/>
                </a:solidFill>
                <a:latin typeface="Calibri"/>
              </a:rPr>
              <a:t>both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endpoints' drivers + the current spread — so any gain is whole-network context, not missing data.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8B57"/>
                </a:solidFill>
                <a:latin typeface="Calibri"/>
              </a:rPr>
              <a:t>+0.056 skill (≈29%), 5/5 seeds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 — and the synthetic control </a:t>
            </a:r>
            <a:r>
              <a:rPr sz="1450" b="1" i="0">
                <a:solidFill>
                  <a:srgbClr val="2A334A"/>
                </a:solidFill>
                <a:latin typeface="Calibri"/>
              </a:rPr>
              <a:t>inverts</a:t>
            </a:r>
            <a:r>
              <a:rPr sz="1450" b="0" i="0">
                <a:solidFill>
                  <a:srgbClr val="595959"/>
                </a:solidFill>
                <a:latin typeface="Calibri"/>
              </a:rPr>
              <a:t>: on independent zones the GAT is worse than the ridge.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34A"/>
                </a:solidFill>
                <a:latin typeface="Calibri"/>
              </a:rPr>
              <a:t>The GNN's value concentrates precisely on the target that cannot be defined without the relation.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B9BD5"/>
                </a:solidFill>
                <a:latin typeface="Calibri"/>
              </a:rPr>
              <a:t>CONCLUSION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questions, answered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27080" cy="1051560"/>
          </a:xfrm>
          <a:prstGeom prst="rect">
            <a:avLst/>
          </a:prstGeom>
          <a:solidFill>
            <a:srgbClr val="36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0584" cy="1051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E8B57"/>
                </a:solidFill>
                <a:latin typeface="Calibri"/>
              </a:rPr>
              <a:t>RQ1  Learned attention?   </a:t>
            </a:r>
            <a:r>
              <a:rPr sz="1350" b="0" i="0">
                <a:solidFill>
                  <a:srgbClr val="E6EAF2"/>
                </a:solidFill>
                <a:latin typeface="Calibri"/>
              </a:rPr>
              <a:t>Yes on equities — positive value-add in 30/30 runs against a matched anchor. The mechanism is a modest, stationary tilt on broad pooling; the composite beats 9 of 10 inputs but not the best single alpha.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24912"/>
            <a:ext cx="10927080" cy="1051560"/>
          </a:xfrm>
          <a:prstGeom prst="rect">
            <a:avLst/>
          </a:prstGeom>
          <a:solidFill>
            <a:srgbClr val="36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24912"/>
            <a:ext cx="100584" cy="10515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5B9BD5"/>
                </a:solidFill>
                <a:latin typeface="Calibri"/>
              </a:rPr>
              <a:t>RQ2  One kernel, two graphs?   </a:t>
            </a:r>
            <a:r>
              <a:rPr sz="1350" b="0" i="0">
                <a:solidFill>
                  <a:srgbClr val="E6EAF2"/>
                </a:solidFill>
                <a:latin typeface="Calibri"/>
              </a:rPr>
              <a:t>Yes — the same code finds a real margin on equities and correctly finds nothing on synthetic random walks and uncoupled zones. Implausible magnitudes were treated as alarms, not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95344"/>
            <a:ext cx="10927080" cy="1051560"/>
          </a:xfrm>
          <a:prstGeom prst="rect">
            <a:avLst/>
          </a:prstGeom>
          <a:solidFill>
            <a:srgbClr val="36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95344"/>
            <a:ext cx="100584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D7D31"/>
                </a:solidFill>
                <a:latin typeface="Calibri"/>
              </a:rPr>
              <a:t>RQ3  Physical topology helps forecasts?   </a:t>
            </a:r>
            <a:r>
              <a:rPr sz="1350" b="0" i="0">
                <a:solidFill>
                  <a:srgbClr val="E6EAF2"/>
                </a:solidFill>
                <a:latin typeface="Calibri"/>
              </a:rPr>
              <a:t>Yes, where it should — +0.131 node skill, and +0.056 on cross-border spreads (5/5), while a synthetic control inverts. Congestion edge features: an honest null.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10927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The most transferable output is methodological: </a:t>
            </a:r>
            <a:r>
              <a:rPr sz="1450" b="0" i="0">
                <a:solidFill>
                  <a:srgbClr val="C7D0E0"/>
                </a:solidFill>
                <a:latin typeface="Calibri"/>
              </a:rPr>
              <a:t>evaluate on untransformed returns; treat rank correlation and profitability as different claims; distrust magnitudes that outrun their plausibility; require seeds, fixed devices and cross-implementation replication; and keep negative controls running — they are what give positive results their meaning.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